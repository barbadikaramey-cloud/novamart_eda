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522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3F3B"/>
          </a:solidFill>
          <a:ln w="12700">
            <a:solidFill>
              <a:srgbClr val="0B3F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965960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 smtClean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50" b="1" kern="0" spc="10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PROJECT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23317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CAMPAIGN 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31546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•  Sales Uplift  •  Revenue Impact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370332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business-focused read of store footprint, category demand, city-level promotion response, promotion-type economics, and revenue impact from the retail promotions dataset.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CODEBASICS.IO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addressed in this analysis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5819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819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23544" y="1554480"/>
            <a:ext cx="483717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the number of stores in each city. Identify the city with the most stores and compare Bengaluru with Hyderabad and Chennai.  </a:t>
            </a:r>
            <a:r>
              <a:rPr lang="en-US" sz="950" i="1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(Bar chart)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40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23544" y="2212848"/>
            <a:ext cx="483717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total quantity sold after promotion for the Sankranti campaign by category, and each category's % contribution to overall sales.  </a:t>
            </a:r>
            <a:r>
              <a:rPr lang="en-US" sz="950" i="1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(Pie chart)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502920" y="28986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8986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23544" y="2871216"/>
            <a:ext cx="483717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the correlation between post-promotion base price and post-promotion sales quantity.  </a:t>
            </a:r>
            <a:r>
              <a:rPr lang="en-US" sz="950" i="1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(Heatmap)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502920" y="35570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57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23544" y="3529584"/>
            <a:ext cx="483717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distribution of pre-promotion quantity sold for each product category and the patterns across categories.  </a:t>
            </a:r>
            <a:r>
              <a:rPr lang="en-US" sz="950" i="1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(Histograms)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6080760" y="15819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5819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01384" y="1554480"/>
            <a:ext cx="483717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ISU% across cities; identify the city with the highest ISU% and the one with the smallest change.  </a:t>
            </a:r>
            <a:r>
              <a:rPr lang="en-US" sz="950" i="1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(Line chart)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6080760" y="2240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2240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01384" y="2212848"/>
            <a:ext cx="483717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incremental revenue vs. incremental sold units by promotion type in Hyderabad.  </a:t>
            </a:r>
            <a:r>
              <a:rPr lang="en-US" sz="950" i="1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(Scatter plot)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6080760" y="28986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28986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01384" y="2871216"/>
            <a:ext cx="483717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revenue before vs. after promotions by product category in Bengaluru.  </a:t>
            </a:r>
            <a:r>
              <a:rPr lang="en-US" sz="950" i="1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(Vertical bar chart)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502920" y="4389120"/>
            <a:ext cx="10835640" cy="1234440"/>
          </a:xfrm>
          <a:prstGeom prst="roundRect">
            <a:avLst>
              <a:gd name="adj" fmla="val 7407"/>
            </a:avLst>
          </a:prstGeom>
          <a:solidFill>
            <a:srgbClr val="F2F7F6"/>
          </a:solidFill>
          <a:ln w="12700">
            <a:solidFill>
              <a:srgbClr val="F2F7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51713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0F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1520" y="4809744"/>
            <a:ext cx="5166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2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ISU% (Incremental Sold Units): </a:t>
            </a:r>
            <a:r>
              <a:rPr lang="en-US" sz="102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in units sold after a promotion vs. before it — measures uplift in sales volume.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6217920" y="4809744"/>
            <a:ext cx="5166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2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IR% (Incremental Revenue): </a:t>
            </a:r>
            <a:r>
              <a:rPr lang="en-US" sz="102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in revenue after a promotion vs. before it — measures uplift in revenue.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50292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Campaign Analysis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28832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RETAIL FOOTPRINT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Distribution by City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stores per city, sorted from highest to lowest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694944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3E7E8"/>
            </a:solidFill>
            <a:prstDash val="solid"/>
          </a:ln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</p:sp>
      <p:pic>
        <p:nvPicPr>
          <p:cNvPr id="6" name="Image 0" descr="nb_images/cell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049595"/>
            <a:ext cx="6547104" cy="39018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6680" y="1691640"/>
            <a:ext cx="4462272" cy="4617720"/>
          </a:xfrm>
          <a:prstGeom prst="roundRect">
            <a:avLst>
              <a:gd name="adj" fmla="val 2459"/>
            </a:avLst>
          </a:prstGeom>
          <a:solidFill>
            <a:srgbClr val="F2F7F6"/>
          </a:solidFill>
          <a:ln w="12700">
            <a:solidFill>
              <a:srgbClr val="F2F7F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82712" y="1892808"/>
            <a:ext cx="3950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0F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CHART SHOWS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82712" y="2240280"/>
            <a:ext cx="395020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leads with 10 stores, the largest footprint in the network.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(8) and Hyderabad (7) form the next tier, making these three cities the core network.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Visakhapatnam and Coimbatore follow with 5 stores each; Madurai and Mysuru have 4 each.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Mangalore (3), Trivandrum (2) and Vijayawada (2) have the smallest current footprint.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880299" y="5010912"/>
            <a:ext cx="4155034" cy="1078992"/>
          </a:xfrm>
          <a:prstGeom prst="roundRect">
            <a:avLst>
              <a:gd name="adj" fmla="val 8475"/>
            </a:avLst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4891" y="5120640"/>
            <a:ext cx="38258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044891" y="5358384"/>
            <a:ext cx="382585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is concentrated in Bengaluru, Chennai and Hyderabad. Smaller cities like Trivandrum and Vijayawada represent clear white space for future store expansion.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Campaign Analysis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28832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CATEGORY DEMAND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Sankranti: Post-Promotion Sales Mix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quantity sold after promotion, by category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630936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3E7E8"/>
            </a:solidFill>
            <a:prstDash val="solid"/>
          </a:ln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</p:sp>
      <p:pic>
        <p:nvPicPr>
          <p:cNvPr id="6" name="Image 0" descr="nb_images/cell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317" y="1892808"/>
            <a:ext cx="4898567" cy="42153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86600" y="1691640"/>
            <a:ext cx="5102352" cy="4617720"/>
          </a:xfrm>
          <a:prstGeom prst="roundRect">
            <a:avLst>
              <a:gd name="adj" fmla="val 2376"/>
            </a:avLst>
          </a:prstGeom>
          <a:solidFill>
            <a:srgbClr val="F2F7F6"/>
          </a:solidFill>
          <a:ln w="12700">
            <a:solidFill>
              <a:srgbClr val="F2F7F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42632" y="1892808"/>
            <a:ext cx="4590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0F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CHART SHOWS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42632" y="2240280"/>
            <a:ext cx="459028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&amp; Staples contributes 70.5% of post-promotion units sold — the campaign's dominant category.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Appliances is a distant second at 14.1%.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Care (6.7%), Combo1 (4.9%) and Personal Care (3.7%) round out the mix.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is heavily concentrated in essential, everyday products.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240219" y="5010912"/>
            <a:ext cx="4795114" cy="1078992"/>
          </a:xfrm>
          <a:prstGeom prst="roundRect">
            <a:avLst>
              <a:gd name="adj" fmla="val 8475"/>
            </a:avLst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04811" y="5120640"/>
            <a:ext cx="446593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404811" y="5358384"/>
            <a:ext cx="446593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&amp; Staples is the campaign's volume engine. Inventory availability for this category should be protected first during any promotion window.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Campaign Analysis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28832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vs. Post-Promotion Sales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post-promotion base price and quantity sold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76072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3E7E8"/>
            </a:solidFill>
            <a:prstDash val="solid"/>
          </a:ln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</p:sp>
      <p:pic>
        <p:nvPicPr>
          <p:cNvPr id="6" name="Image 0" descr="nb_images/cell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82" y="1892808"/>
            <a:ext cx="5193595" cy="42153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1691640"/>
            <a:ext cx="5650992" cy="4617720"/>
          </a:xfrm>
          <a:prstGeom prst="roundRect">
            <a:avLst>
              <a:gd name="adj" fmla="val 2376"/>
            </a:avLst>
          </a:prstGeom>
          <a:solidFill>
            <a:srgbClr val="F2F7F6"/>
          </a:solidFill>
          <a:ln w="12700">
            <a:solidFill>
              <a:srgbClr val="F2F7F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93992" y="1892808"/>
            <a:ext cx="5138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0F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CHART SHOWS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793992" y="2240280"/>
            <a:ext cx="513892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correlation between base price and quantity sold after promotion is +0.27 — a weak positive relationship.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Higher-priced products show only a slight tendency to sell more units.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alone explains only a small part of the variation in post-promotion sales.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type, category and product preference likely matter more than price positioning.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91579" y="5010912"/>
            <a:ext cx="5343754" cy="1078992"/>
          </a:xfrm>
          <a:prstGeom prst="roundRect">
            <a:avLst>
              <a:gd name="adj" fmla="val 8475"/>
            </a:avLst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6171" y="5120640"/>
            <a:ext cx="50145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6171" y="5358384"/>
            <a:ext cx="501457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alone is not the main demand lever. Pair pricing decisions with targeted promotion design rather than relying on price cuts by themselves.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Campaign Analysis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28832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BASELINE DEMAND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Pre-Promotion Demand by Category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quantity sold before promotion, by category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694944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3E7E8"/>
            </a:solidFill>
            <a:prstDash val="solid"/>
          </a:ln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</p:sp>
      <p:pic>
        <p:nvPicPr>
          <p:cNvPr id="6" name="Image 0" descr="nb_images/cell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264858"/>
            <a:ext cx="6547104" cy="347128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6680" y="1691640"/>
            <a:ext cx="4462272" cy="4617720"/>
          </a:xfrm>
          <a:prstGeom prst="roundRect">
            <a:avLst>
              <a:gd name="adj" fmla="val 2459"/>
            </a:avLst>
          </a:prstGeom>
          <a:solidFill>
            <a:srgbClr val="F2F7F6"/>
          </a:solidFill>
          <a:ln w="12700">
            <a:solidFill>
              <a:srgbClr val="F2F7F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82712" y="1892808"/>
            <a:ext cx="3950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0F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CHART SHOWS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82712" y="2240280"/>
            <a:ext cx="395020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&amp; Staples clusters around 200–400 units, with a few products above 500.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Care (20–60) and Personal Care (30–80) are lower-volume and right-skewed.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Appliances spans roughly 30–120 units, showing wider demand variation.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Combo1 is bimodal, with peaks near 100 units and 350–400 units.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880299" y="5010912"/>
            <a:ext cx="4155034" cy="1078992"/>
          </a:xfrm>
          <a:prstGeom prst="roundRect">
            <a:avLst>
              <a:gd name="adj" fmla="val 8475"/>
            </a:avLst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4891" y="5120640"/>
            <a:ext cx="38258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044891" y="5358384"/>
            <a:ext cx="382585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have very different baseline demand shapes, which supports category- or SKU-level promotion design rather than one blanket discount.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Campaign Analysis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28832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CITY RESPONSE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Sold Units % Across Cities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ISU% by city after promotion, highest to lowest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694944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3E7E8"/>
            </a:solidFill>
            <a:prstDash val="solid"/>
          </a:ln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</p:sp>
      <p:pic>
        <p:nvPicPr>
          <p:cNvPr id="6" name="Image 0" descr="nb_images/cell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960623"/>
            <a:ext cx="6547104" cy="407975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6680" y="1691640"/>
            <a:ext cx="4462272" cy="4617720"/>
          </a:xfrm>
          <a:prstGeom prst="roundRect">
            <a:avLst>
              <a:gd name="adj" fmla="val 2459"/>
            </a:avLst>
          </a:prstGeom>
          <a:solidFill>
            <a:srgbClr val="F2F7F6"/>
          </a:solidFill>
          <a:ln w="12700">
            <a:solidFill>
              <a:srgbClr val="F2F7F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82712" y="1892808"/>
            <a:ext cx="3950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0F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CHART SHOWS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82712" y="2240280"/>
            <a:ext cx="395020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leads at 117.17%, just ahead of Madurai at 117.01%.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Mysuru (115.41%) and Bengaluru (113.85%) also show strong uplift.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(101.76%) and Mangalore (99.42%) trail the top group.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Visakhapatnam is lowest at 97.74%, about 19.4 points below Chennai.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880299" y="5010912"/>
            <a:ext cx="4155034" cy="1078992"/>
          </a:xfrm>
          <a:prstGeom prst="roundRect">
            <a:avLst>
              <a:gd name="adj" fmla="val 8475"/>
            </a:avLst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4891" y="5120640"/>
            <a:ext cx="38258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044891" y="5358384"/>
            <a:ext cx="382585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response varies meaningfully by city. Use Chennai, Madurai and Mysuru as benchmarks, and diagnose why Visakhapatnam and Mangalore respond more weakly.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Campaign Analysis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28832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PROMOTION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Hyderabad: Promotion Type Performance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sold units % vs. incremental revenue %, by promotion type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612648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3E7E8"/>
            </a:solidFill>
            <a:prstDash val="solid"/>
          </a:ln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</p:sp>
      <p:pic>
        <p:nvPicPr>
          <p:cNvPr id="6" name="Image 0" descr="nb_images/cell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5" y="1892808"/>
            <a:ext cx="5574189" cy="42153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03720" y="1691640"/>
            <a:ext cx="5285232" cy="4617720"/>
          </a:xfrm>
          <a:prstGeom prst="roundRect">
            <a:avLst>
              <a:gd name="adj" fmla="val 2376"/>
            </a:avLst>
          </a:prstGeom>
          <a:solidFill>
            <a:srgbClr val="F2F7F6"/>
          </a:solidFill>
          <a:ln w="12700">
            <a:solidFill>
              <a:srgbClr val="F2F7F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59752" y="1892808"/>
            <a:ext cx="4773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0F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CHART SHOWS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59752" y="2240280"/>
            <a:ext cx="477316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BOGOF leads unit growth at ISU% 247.73%, and also delivers a strong IR% of 73.87%.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 Cashback leads revenue growth at IR% 105.87%, with ISU% of 147.05%.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OFF and 50% OFF increase units but produce negative incremental revenue.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OFF underperforms on both metrics: ISU% −15.15% and IR% −36.65%.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057339" y="5010912"/>
            <a:ext cx="4977994" cy="1078992"/>
          </a:xfrm>
          <a:prstGeom prst="roundRect">
            <a:avLst>
              <a:gd name="adj" fmla="val 8475"/>
            </a:avLst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21931" y="5120640"/>
            <a:ext cx="464881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221931" y="5358384"/>
            <a:ext cx="464881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BOGOF maximizes unit growth; ₹500 Cashback maximizes revenue uplift. Discount depth alone does not guarantee a good outcome — mechanic choice matters.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Campaign Analysis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28832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REVENUE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Bengaluru: Revenue Before vs. After Promotion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revenue comparison, in ₹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667512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3E7E8"/>
            </a:solidFill>
            <a:prstDash val="solid"/>
          </a:ln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</p:sp>
      <p:pic>
        <p:nvPicPr>
          <p:cNvPr id="6" name="Image 0" descr="nb_images/cell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133" y="1892808"/>
            <a:ext cx="6054694" cy="42153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52360" y="1691640"/>
            <a:ext cx="4736592" cy="4617720"/>
          </a:xfrm>
          <a:prstGeom prst="roundRect">
            <a:avLst>
              <a:gd name="adj" fmla="val 2376"/>
            </a:avLst>
          </a:prstGeom>
          <a:solidFill>
            <a:srgbClr val="F2F7F6"/>
          </a:solidFill>
          <a:ln w="12700">
            <a:solidFill>
              <a:srgbClr val="F2F7F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08392" y="1892808"/>
            <a:ext cx="4224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0F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CHART SHOWS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08392" y="2240280"/>
            <a:ext cx="422452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Combo1 rises from ₹15.78M to ₹38.13M, an uplift of about 141.6% — the standout performer.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Appliances grows from ₹2.19M to ₹4.12M (~88.3%); Home Care grows from ₹2.10M to ₹3.18M (~51.1%).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&amp; Staples grows from ₹12.26M to ₹13.86M (~13.0%), a smaller uplift given its already-strong baseline.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Care falls from ₹0.58M to ₹0.39M (~32.4%) — the only category with a post-promotion decline.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605979" y="5010912"/>
            <a:ext cx="4429354" cy="1078992"/>
          </a:xfrm>
          <a:prstGeom prst="roundRect">
            <a:avLst>
              <a:gd name="adj" fmla="val 8475"/>
            </a:avLst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0571" y="5120640"/>
            <a:ext cx="41001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C6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0571" y="5358384"/>
            <a:ext cx="410017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broadly lifted Bengaluru revenue, but Combo1's outsized gain and Personal Care's decline show why offers need to be set category by category.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Campaign Analysis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28832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takeaways from the store, category, city, promotion and revenue analysis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2331720" cy="786384"/>
          </a:xfrm>
          <a:prstGeom prst="roundRect">
            <a:avLst>
              <a:gd name="adj" fmla="val 9302"/>
            </a:avLst>
          </a:prstGeom>
          <a:solidFill>
            <a:srgbClr val="F2F7F6"/>
          </a:solidFill>
          <a:ln w="12700">
            <a:solidFill>
              <a:srgbClr val="F2F7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572768"/>
            <a:ext cx="20025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footprint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0" y="1572768"/>
            <a:ext cx="8778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has the largest store network at 10 stores; together with Chennai (8) and Hyderabad (7), these three cities form the core network.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05456"/>
            <a:ext cx="2331720" cy="786384"/>
          </a:xfrm>
          <a:prstGeom prst="roundRect">
            <a:avLst>
              <a:gd name="adj" fmla="val 9302"/>
            </a:avLst>
          </a:prstGeom>
          <a:solidFill>
            <a:srgbClr val="F2F7F6"/>
          </a:solidFill>
          <a:ln w="12700">
            <a:solidFill>
              <a:srgbClr val="F2F7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505456"/>
            <a:ext cx="20025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demand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2505456"/>
            <a:ext cx="8778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&amp; Staples contributes 70.5% of Sankranti post-promotion units — by far the campaign's largest volume driver.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438144"/>
            <a:ext cx="2331720" cy="786384"/>
          </a:xfrm>
          <a:prstGeom prst="roundRect">
            <a:avLst>
              <a:gd name="adj" fmla="val 9302"/>
            </a:avLst>
          </a:prstGeom>
          <a:solidFill>
            <a:srgbClr val="F2F7F6"/>
          </a:solidFill>
          <a:ln w="12700">
            <a:solidFill>
              <a:srgbClr val="F2F7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3438144"/>
            <a:ext cx="20025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response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3438144"/>
            <a:ext cx="8778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posts the highest average ISU% at 117.17%; Visakhapatnam is lowest at 97.74%.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370832"/>
            <a:ext cx="2331720" cy="786384"/>
          </a:xfrm>
          <a:prstGeom prst="roundRect">
            <a:avLst>
              <a:gd name="adj" fmla="val 9302"/>
            </a:avLst>
          </a:prstGeom>
          <a:solidFill>
            <a:srgbClr val="F2F7F6"/>
          </a:solidFill>
          <a:ln w="12700">
            <a:solidFill>
              <a:srgbClr val="F2F7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4370832"/>
            <a:ext cx="20025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economics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4370832"/>
            <a:ext cx="8778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Hyderabad, BOGOF drives the largest unit uplift (ISU% 247.73%); ₹500 Cashback drives the largest revenue uplift (IR% 105.87%).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5303520"/>
            <a:ext cx="2331720" cy="786384"/>
          </a:xfrm>
          <a:prstGeom prst="roundRect">
            <a:avLst>
              <a:gd name="adj" fmla="val 9302"/>
            </a:avLst>
          </a:prstGeom>
          <a:solidFill>
            <a:srgbClr val="F2F7F6"/>
          </a:solidFill>
          <a:ln w="12700">
            <a:solidFill>
              <a:srgbClr val="F2F7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5303520"/>
            <a:ext cx="200253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5303520"/>
            <a:ext cx="8778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Bengaluru, Combo1 revenue rises from ₹15.78M to ₹38.13M (+141.6%), while Personal Care falls ~32.4%.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Campaign Analysis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28832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the observed patterns into promotional decisions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84048" cy="731520"/>
          </a:xfrm>
          <a:prstGeom prst="roundRect">
            <a:avLst>
              <a:gd name="adj" fmla="val 19048"/>
            </a:avLst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384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9848" y="16002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volume engine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886200" y="1600200"/>
            <a:ext cx="8001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inventory availability and value-led offers for Grocery &amp; Staples, since both baseline and post-promotion demand are dominant here.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496312"/>
            <a:ext cx="384048" cy="731520"/>
          </a:xfrm>
          <a:prstGeom prst="roundRect">
            <a:avLst>
              <a:gd name="adj" fmla="val 19048"/>
            </a:avLst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96312"/>
            <a:ext cx="384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69848" y="249631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winning mechanics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886200" y="2496312"/>
            <a:ext cx="8001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BOGOF where the objective is maximum unit growth; use ₹500 Cashback when revenue uplift is the priority.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392424"/>
            <a:ext cx="384048" cy="731520"/>
          </a:xfrm>
          <a:prstGeom prst="roundRect">
            <a:avLst>
              <a:gd name="adj" fmla="val 19048"/>
            </a:avLst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92424"/>
            <a:ext cx="384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69848" y="3392424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by city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886200" y="3392424"/>
            <a:ext cx="8001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Chennai, Madurai and Mysuru as benchmarks, and investigate why Visakhapatnam and Mangalore respond less strongly.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288536"/>
            <a:ext cx="384048" cy="731520"/>
          </a:xfrm>
          <a:prstGeom prst="roundRect">
            <a:avLst>
              <a:gd name="adj" fmla="val 19048"/>
            </a:avLst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288536"/>
            <a:ext cx="384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69848" y="4288536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by demand shape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886200" y="4288536"/>
            <a:ext cx="8001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Combo1's two demand clusters separately, and avoid blanket discounts across categories with very different demand patterns.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5184648"/>
            <a:ext cx="384048" cy="731520"/>
          </a:xfrm>
          <a:prstGeom prst="roundRect">
            <a:avLst>
              <a:gd name="adj" fmla="val 19048"/>
            </a:avLst>
          </a:prstGeom>
          <a:solidFill>
            <a:srgbClr val="0F5C56"/>
          </a:solidFill>
          <a:ln w="12700">
            <a:solidFill>
              <a:srgbClr val="0F5C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184648"/>
            <a:ext cx="384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69848" y="5184648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underperformers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886200" y="5184648"/>
            <a:ext cx="8001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Personal Care promotions and deep-discount mechanics like 25% OFF — both lost revenue despite the campaign.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565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Campaign Analysis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28832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1487</TotalTime>
  <Words>1370</Words>
  <Application>Microsoft Office PowerPoint</Application>
  <PresentationFormat>Widescreen</PresentationFormat>
  <Paragraphs>154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Mayank Barbadikar</cp:lastModifiedBy>
  <cp:revision>2</cp:revision>
  <dcterms:created xsi:type="dcterms:W3CDTF">2026-08-08T09:19:51Z</dcterms:created>
  <dcterms:modified xsi:type="dcterms:W3CDTF">2026-08-09T10:34:06Z</dcterms:modified>
</cp:coreProperties>
</file>